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26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22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471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63290" y="-11430"/>
            <a:ext cx="5669280" cy="51435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0"/>
            <a:ext cx="5669280" cy="10972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28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Artificial Intelligence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di Bologna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5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Text Mining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Course Project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874520"/>
            <a:ext cx="3017520" cy="22860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965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Alina Baig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Kulsoom Zaidi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578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/ 2025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3063240"/>
            <a:ext cx="3017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3108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— Diabetes 130-US Hospitals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1999–2008 · 101,766 records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clinical features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703320" y="20116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30-Day Hospital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in Diabetic Patients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703320" y="1188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Machine Learning Pipeline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Apache Spark MLlib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03320" y="178308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Algorithms compared with 5-fold CrossValidator on 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2-node Docker Spark cluster. Class imbalance handled via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training and F2-optimised threshold selection.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0" y="2633472"/>
            <a:ext cx="1681089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0" y="2670366"/>
            <a:ext cx="1681089" cy="493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69,970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657600" y="3187996"/>
            <a:ext cx="1681089" cy="323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after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82530" y="2636814"/>
            <a:ext cx="150407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62601" y="2673708"/>
            <a:ext cx="1504070" cy="493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62601" y="3191337"/>
            <a:ext cx="1504070" cy="3233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(inc.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engineered)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0" y="2626730"/>
            <a:ext cx="1455420" cy="98515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0" y="2666966"/>
            <a:ext cx="1455420" cy="496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10.1:1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315200" y="3185767"/>
            <a:ext cx="1455420" cy="32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03320" y="48463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Strack et al. (2014) — BioMed Research International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Readmission Prediction Matter?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"/>
            <a:ext cx="822960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59436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7223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  Clinical Cost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high-risk patient at discharge can lead to avoidable deterioration and emergency re-admission within 30 days.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59436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7223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 Financial Cost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03327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hospitals are penalised under CMS's Hospital Readmissions Reduction Program, excess readmissions reduce Medicare reimbursement.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42316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551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Scale Problem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86207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busy hospital discharges hundreds of patients weekly. Reviewing each case equally is not feasible, a risk-scoring tool enables targeted follow-up.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42316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2551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Our Approach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86207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ML on Apache Spark allows processing of 70,000+ records in parallel. Three algorithms are compared using proper cross-validation and imbalance handling.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Cluster: Docker on a Single Physical Machine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"/>
            <a:ext cx="822960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94360"/>
            <a:ext cx="8412480" cy="4206240"/>
          </a:xfrm>
          <a:prstGeom prst="rect">
            <a:avLst/>
          </a:prstGeom>
          <a:solidFill>
            <a:srgbClr val="EEF4FA"/>
          </a:solidFill>
          <a:ln w="12700">
            <a:solidFill>
              <a:srgbClr val="BBCF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21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Machine: Laptop / Workstation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0" y="6217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 (OS Virtualisation · TCP/IP Network)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960120"/>
            <a:ext cx="3474720" cy="3474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38100" dir="16200000" algn="bl" rotWithShape="0">
              <a:srgbClr val="99AABB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0515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MASTER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spark://localhost:7077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1737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Coordinates job submission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1214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Splits data across workers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5054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Collects &amp; merges results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8895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Runs CrossValidator logic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60520" y="2450592"/>
            <a:ext cx="822960" cy="5486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25054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0" y="960120"/>
            <a:ext cx="3474720" cy="347472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  <a:effectLst>
            <a:outerShdw blurRad="76200" dist="38100" dir="16200000" algn="bl" rotWithShape="0">
              <a:srgbClr val="99AABB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10515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WORKER(S)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2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workers configured (XGBoost)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12080" y="1737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Receives partitioned data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21214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Executes model training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25054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Returns trained trees / scores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0" y="28895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Parallel folds in CrossValidator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187952"/>
            <a:ext cx="7863840" cy="493776"/>
          </a:xfrm>
          <a:prstGeom prst="rect">
            <a:avLst/>
          </a:prstGeom>
          <a:solidFill>
            <a:srgbClr val="DDEAF5"/>
          </a:solidFill>
          <a:ln w="12700">
            <a:solidFill>
              <a:srgbClr val="C8D9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2519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3.5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039112" y="42519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46704" y="42519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2.0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54296" y="42519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MLlib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61888" y="42519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1.3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69480" y="42519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2.0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Preprocessing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"/>
            <a:ext cx="822960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94360"/>
            <a:ext cx="3840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6583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Diabetes 130-US Hospitals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9784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9784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US hospitals, 1999–2008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2710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2710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101,766 patient encounters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5636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15636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clinical variables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8562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preprocessing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18562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69,970 unique patients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1488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21488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56,099 / 13,871 (80/20)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594360"/>
            <a:ext cx="4389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26280" y="6583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10 Steps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960120"/>
            <a:ext cx="416052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Replace ? with null (7 columns affected)</a:t>
            </a:r>
          </a:p>
        </p:txBody>
      </p:sp>
      <p:sp>
        <p:nvSpPr>
          <p:cNvPr id="21" name="Text 19"/>
          <p:cNvSpPr/>
          <p:nvPr/>
        </p:nvSpPr>
        <p:spPr>
          <a:xfrm>
            <a:off x="4526280" y="1095451"/>
            <a:ext cx="416052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Keep first visit per patient (deduplication)</a:t>
            </a:r>
          </a:p>
        </p:txBody>
      </p:sp>
      <p:sp>
        <p:nvSpPr>
          <p:cNvPr id="22" name="Text 20"/>
          <p:cNvSpPr/>
          <p:nvPr/>
        </p:nvSpPr>
        <p:spPr>
          <a:xfrm>
            <a:off x="4526280" y="1230782"/>
            <a:ext cx="416052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Remove deceased / hospice patients (codes 11,13,14,19-21)</a:t>
            </a:r>
          </a:p>
        </p:txBody>
      </p:sp>
      <p:sp>
        <p:nvSpPr>
          <p:cNvPr id="23" name="Text 21"/>
          <p:cNvSpPr/>
          <p:nvPr/>
        </p:nvSpPr>
        <p:spPr>
          <a:xfrm>
            <a:off x="4526280" y="1366114"/>
            <a:ext cx="416052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Drop high-missingness &amp; zero-variance columns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26280" y="1501445"/>
            <a:ext cx="416052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Age brackets → integer midpoints (e.g. [50-60) → 55)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26280" y="1636776"/>
            <a:ext cx="416052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Fix race / gender encoding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26280" y="1772107"/>
            <a:ext cx="416052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Map ICD-9 codes → 9 clinical categories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26280" y="1907438"/>
            <a:ext cx="416052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Binarize 16 medication columns (No=0, any use=1)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26280" y="2042770"/>
            <a:ext cx="416052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Cast ordinal IDs to string (categorical, not ordinal)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26280" y="2178101"/>
            <a:ext cx="416052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Create binary label: readmitted &lt;30 days =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2633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Missing Value Findings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2907792"/>
            <a:ext cx="8503920" cy="310896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944368"/>
            <a:ext cx="19751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31720" y="2944368"/>
            <a:ext cx="16093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Count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77640" y="2944368"/>
            <a:ext cx="11521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Missing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66360" y="2944368"/>
            <a:ext cx="17922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3218688"/>
            <a:ext cx="8503920" cy="310896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255264"/>
            <a:ext cx="19751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331720" y="3255264"/>
            <a:ext cx="16093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98,569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977640" y="3255264"/>
            <a:ext cx="11521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66360" y="3255264"/>
            <a:ext cx="17922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3511296"/>
            <a:ext cx="8503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547872"/>
            <a:ext cx="19751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medical_specialty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331720" y="3547872"/>
            <a:ext cx="16093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49,949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977640" y="3547872"/>
            <a:ext cx="11521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49.1%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66360" y="3547872"/>
            <a:ext cx="17922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3803904"/>
            <a:ext cx="8503920" cy="310896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840480"/>
            <a:ext cx="19751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payer_code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331720" y="3840480"/>
            <a:ext cx="16093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40,256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977640" y="3840480"/>
            <a:ext cx="11521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39.6%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66360" y="3840480"/>
            <a:ext cx="17922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20040" y="4096512"/>
            <a:ext cx="8503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133088"/>
            <a:ext cx="19751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331720" y="4133088"/>
            <a:ext cx="16093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2,273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977640" y="4133088"/>
            <a:ext cx="11521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166360" y="4133088"/>
            <a:ext cx="17922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→ "Unknown"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Clinically Motivated New Features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"/>
            <a:ext cx="822960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9436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594360"/>
            <a:ext cx="2788920" cy="29260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008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Intensity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9784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medications_per_day = num_medications / time_in_hospital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lab_intensity = num_lab_procedures / time_in_hospital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59436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594360"/>
            <a:ext cx="2788920" cy="2926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64008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Hospitalisation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9784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prior_hospital_burden = inpatient + emergency + outpatient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1325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has_prior_inpatient  (binary flag: any prior inpatient stay)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59436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594360"/>
            <a:ext cx="2788920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64008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Complexity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9784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multiple_diseases  (all 3 diagnoses are different categories)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1325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has_diabetes_plus_other  (diabetes present with other condition)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16733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diabetes_circulatory  (diabetes AND circulatory disease)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20208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has_circulatory  (circulatory as primary diagnosis)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69748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697480"/>
            <a:ext cx="278892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743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 Management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081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A1C_tested   (was HbA1c measured  Strack et al. key finding)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429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A1C_abnormal  (result above normal threshold: &gt;7 or &gt;8)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269748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2697480"/>
            <a:ext cx="278892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743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3081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high_risk_age     (age ≥ 75)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3429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elderly_high_meds  (age ≥ 65 AND medications &gt; 15)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269748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2697480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2743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Burden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3081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active_diabetes_meds  (count of active drug classes)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3429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poly_pharmacy  (on 3 or more diabetes drugs simultaneously)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"/>
            <a:ext cx="9144000" cy="51435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&amp; Clinical Feature Patterns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"/>
            <a:ext cx="822960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94360"/>
            <a:ext cx="3017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658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987552"/>
            <a:ext cx="2286000" cy="38404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44368" y="10424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Readmitted: 63,693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444752"/>
            <a:ext cx="224942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4368" y="14996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Readmitted &lt;30d: 6,277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 : 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 → class weighting required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20440" y="594360"/>
            <a:ext cx="5257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0" y="6583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by Class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955548"/>
            <a:ext cx="8503920" cy="310896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7576" y="996696"/>
            <a:ext cx="21579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996696"/>
            <a:ext cx="15179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Readmitted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69080" y="996696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Readmitted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3268" y="1010412"/>
            <a:ext cx="8321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1271016"/>
            <a:ext cx="8503920" cy="310896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8808" y="1307592"/>
            <a:ext cx="191719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time_in_hospital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14600" y="1307592"/>
            <a:ext cx="15179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69080" y="1307592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1307592"/>
            <a:ext cx="8321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0.56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13075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0.56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1545336"/>
            <a:ext cx="8503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8808" y="1591056"/>
            <a:ext cx="196596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num_medications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14600" y="1581912"/>
            <a:ext cx="15179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69080" y="1581912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40680" y="1581912"/>
            <a:ext cx="8321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1.03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15819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1.03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1819656"/>
            <a:ext cx="8503920" cy="310896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" y="1865376"/>
            <a:ext cx="21579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number_inpatient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14600" y="1856232"/>
            <a:ext cx="15179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069080" y="1856232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40680" y="1856232"/>
            <a:ext cx="8321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0.25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18562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0.25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2093976"/>
            <a:ext cx="8503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2044" y="2130552"/>
            <a:ext cx="21579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number_diagnoses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514600" y="2130552"/>
            <a:ext cx="15179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069080" y="2130552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40680" y="2130552"/>
            <a:ext cx="8321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0.31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40880" y="21305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0.31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2368296"/>
            <a:ext cx="8503920" cy="310896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9758" y="2404872"/>
            <a:ext cx="21579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num_lab_procedures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514600" y="2404872"/>
            <a:ext cx="15179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069080" y="2404872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44.12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40680" y="2404872"/>
            <a:ext cx="8321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1.42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040880" y="24048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1.42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0040" y="2642616"/>
            <a:ext cx="8503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8328" y="2676906"/>
            <a:ext cx="21579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medications_per_day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514600" y="2679192"/>
            <a:ext cx="15179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069080" y="2679192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3.99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440680" y="2679192"/>
            <a:ext cx="8321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0.15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040880" y="26791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0.15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65760" y="2999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rate increases with age: &lt;30 = 6.5%  ·  30-60 = 6.9%  ·  &gt;60 = 10.2%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57200" y="3310128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48640" y="3364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60120" y="3639312"/>
            <a:ext cx="950976" cy="320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4023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 readmit rate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337560" y="3310128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3429000" y="3364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840480" y="3639312"/>
            <a:ext cx="1009498" cy="3200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29000" y="4023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 readmit rate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217920" y="3310128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309360" y="3364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6720840" y="3639312"/>
            <a:ext cx="1492301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09360" y="4023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 readmit rate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SETUP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Splitting, Leakage Prevention &amp; Class Weighting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"/>
            <a:ext cx="822960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594360"/>
            <a:ext cx="150876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63500" dist="38100" dir="16200000" algn="bl" rotWithShape="0">
              <a:srgbClr val="99AACC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685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Split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df.randomSplit([0.8, 0.2], seed=42)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BEFORE RFormula fit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920240" y="100584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75688" y="594360"/>
            <a:ext cx="1508760" cy="14630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blurRad="63500" dist="38100" dir="16200000" algn="bl" rotWithShape="0">
              <a:srgbClr val="99AACC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75688" y="685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RFormula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21408" y="1188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formula.fit(train_raw) only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data seen during encoding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84448" y="100584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39896" y="594360"/>
            <a:ext cx="1508760" cy="146304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  <a:effectLst>
            <a:outerShdw blurRad="63500" dist="38100" dir="16200000" algn="bl" rotWithShape="0">
              <a:srgbClr val="99AACC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39896" y="685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85616" y="1188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train &amp; test transformed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training-fitted formula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248656" y="100584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04104" y="594360"/>
            <a:ext cx="1508760" cy="1463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63500" dist="38100" dir="16200000" algn="bl" rotWithShape="0">
              <a:srgbClr val="99AACC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04104" y="685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9824" y="1188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= N_total / (2 × N_class)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train set only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912864" y="100584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068312" y="594360"/>
            <a:ext cx="1508760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63500" dist="38100" dir="16200000" algn="bl" rotWithShape="0">
              <a:srgbClr val="99AACC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68312" y="685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CrossValidator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14032" y="1188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on train only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touched once per algorithm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148840"/>
            <a:ext cx="4078224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2304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Weighting: Why &amp; How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263347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weighting, the model learns to always predict "not readmitted"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achieves ~91% accuracy, but with near-zero recall on the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critical minority class. Class weights penalise missed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readmitted patients more heavily during training.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34930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weight_c = N_total / (2 × N_c)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803904"/>
            <a:ext cx="3977640" cy="310896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720" y="3840480"/>
            <a:ext cx="1320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40280" y="3840480"/>
            <a:ext cx="12435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20440" y="3840480"/>
            <a:ext cx="7406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3977640" cy="31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34612"/>
            <a:ext cx="184708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Readmitted (1)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240280" y="4151376"/>
            <a:ext cx="12435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5,019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20440" y="4151376"/>
            <a:ext cx="7406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5.59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4410964"/>
            <a:ext cx="3918204" cy="3271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453128"/>
            <a:ext cx="18379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readmitted (0)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40280" y="4462272"/>
            <a:ext cx="12435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51,080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520440" y="4462272"/>
            <a:ext cx="7406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81144" y="2130552"/>
            <a:ext cx="4206240" cy="280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18304" y="2194560"/>
            <a:ext cx="3931920" cy="27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Prevention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18304" y="2542032"/>
            <a:ext cx="3931920" cy="25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Visit-level leakage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55464" y="2779776"/>
            <a:ext cx="3794760" cy="491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 with multiple admissions could appear in both train and test. Fixed by keeping only the first visit per patient before any split.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18304" y="3346704"/>
            <a:ext cx="3931920" cy="25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Preprocessing leakage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55464" y="3584448"/>
            <a:ext cx="3794760" cy="491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RFormula learns category encodings. If fitted on the full dataset, test categories contaminate training. Fixed: RFormula.fit() called on train_raw only.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18304" y="4151376"/>
            <a:ext cx="3931920" cy="25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Hyperparameter leakage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55464" y="4389120"/>
            <a:ext cx="3794760" cy="491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the best model based on test-set AUC inflates reported performance. Fixed: 5-fold CrossValidator selects hyperparameters on the training set. The test set is used exactly once per algorithm, after tuning is complete.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60960"/>
            <a:ext cx="9144000" cy="51435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OF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Interpretable Clinical Rules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"/>
            <a:ext cx="822960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53128" y="58293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47683" y="60251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Decision Tree?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produce human-readable IF/THEN rules that clinicians can understand and validate. A doctor can follow the logic: "IF prior_hospital_burden &gt; 2 AND medications_per_day &gt; 3 THEN flag as high risk." This interpretability is critical in clinical AI.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53128" y="934974"/>
            <a:ext cx="4023360" cy="301752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956310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maxDepth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79008" y="962406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50608" y="962406"/>
            <a:ext cx="11521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Std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07408" y="1227582"/>
            <a:ext cx="4069080" cy="310896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286" y="1249739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72326" y="1257300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0.5996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50608" y="1264158"/>
            <a:ext cx="11521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53128" y="1501902"/>
            <a:ext cx="4023360" cy="310896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0286" y="1556766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best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76898" y="1549908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0.6185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48498" y="1549908"/>
            <a:ext cx="11521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05298" y="1787652"/>
            <a:ext cx="4069080" cy="310896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286" y="1785366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76898" y="1824228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0.6115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48498" y="1824228"/>
            <a:ext cx="11521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51018" y="2043684"/>
            <a:ext cx="4023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2854" y="2121408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76898" y="2121408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0.5968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48498" y="2098548"/>
            <a:ext cx="11521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2571750"/>
            <a:ext cx="1877568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2569017"/>
            <a:ext cx="1877568" cy="317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0.617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65760" y="2892088"/>
            <a:ext cx="1877568" cy="207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 set)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23160" y="2574214"/>
            <a:ext cx="1792224" cy="62618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450592" y="2633472"/>
            <a:ext cx="1737360" cy="178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61.6%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423160" y="2983110"/>
            <a:ext cx="1737360" cy="11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(readmitted class)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53128" y="2545080"/>
            <a:ext cx="173736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21708" y="239115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12.9%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480560" y="27523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(readmitted class)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37960" y="2569016"/>
            <a:ext cx="1837944" cy="631383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579108" y="2386585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537960" y="27523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maxDepth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(CV-selected)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3337560"/>
            <a:ext cx="8412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02920" y="3401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Precision Low?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" y="370332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8.9% positive cases, even a model that correctly identifies 62% of readmitted patients will generate many false alarms — because the baseline rate is so low. At Precision=12.9%, roughly 87% of flagged patients are false alarms. This is the inherent precision-recall trade-off of a 10:1 imbalanced dataset, consistent with published benchmarks (Strack et al., 2014: AUC ≈ 0.63–0.68).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000" y="0"/>
            <a:ext cx="9144000" cy="51435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 OF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Ensemble &amp; Feature Insights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"/>
            <a:ext cx="822960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9436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658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95097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 hundreds of trees — reduces variance vs a single tree, provides stable feature importances, and typically achieves higher AUC than a single Decision Tree.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59436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6583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CrossValidator Results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950975"/>
            <a:ext cx="4206240" cy="292609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1866" y="945134"/>
            <a:ext cx="14264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numTrees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58240" y="956818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08392" y="961034"/>
            <a:ext cx="11521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Std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243584"/>
            <a:ext cx="4206240" cy="310896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6700" y="1266444"/>
            <a:ext cx="14264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13164" y="1274369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0.6374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08392" y="1243584"/>
            <a:ext cx="11521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481328"/>
            <a:ext cx="4206241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6700" y="1504188"/>
            <a:ext cx="14264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13164" y="1512113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0.6414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08392" y="1481328"/>
            <a:ext cx="11521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1719072"/>
            <a:ext cx="4206240" cy="310896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6700" y="1741932"/>
            <a:ext cx="14264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 best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13164" y="1749857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0.6429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08392" y="1719072"/>
            <a:ext cx="11521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2209190"/>
            <a:ext cx="1609344" cy="57973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2158207"/>
            <a:ext cx="1609344" cy="292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" y="2496772"/>
            <a:ext cx="1609344" cy="19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 set)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23160" y="2227478"/>
            <a:ext cx="1682110" cy="56144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468880" y="2046427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57.6%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42316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(readmitted class)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80560" y="2209190"/>
            <a:ext cx="1819270" cy="57973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26280" y="2184450"/>
            <a:ext cx="1920240" cy="253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48056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(readmitted class)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37960" y="2194560"/>
            <a:ext cx="1920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47104" y="2039223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53796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numTrees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(CV-selected)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926080"/>
            <a:ext cx="841248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02920" y="2990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Feature Importances: Random Forest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20640" y="30175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hospitalisation history   Orange = medication features   Blue = other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20" y="3337560"/>
            <a:ext cx="21945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discharge_disposition_id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24912" y="3355848"/>
            <a:ext cx="5303520" cy="107899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01584" y="3337560"/>
            <a:ext cx="365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2920" y="3489350"/>
            <a:ext cx="21945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number_inpatient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24912" y="3507638"/>
            <a:ext cx="4892684" cy="10789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90748" y="3489350"/>
            <a:ext cx="365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2920" y="3641141"/>
            <a:ext cx="21945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has_prior_inpatient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724912" y="3659429"/>
            <a:ext cx="3660176" cy="10789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58240" y="3641141"/>
            <a:ext cx="365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0.098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02920" y="3792931"/>
            <a:ext cx="21945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prior_hospital_burden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24912" y="3811219"/>
            <a:ext cx="3249340" cy="10789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47404" y="3792931"/>
            <a:ext cx="365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0.087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02920" y="3944722"/>
            <a:ext cx="21945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num_lab_procedures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24912" y="3963010"/>
            <a:ext cx="2352970" cy="107899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51034" y="3944722"/>
            <a:ext cx="365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0.063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2920" y="4096512"/>
            <a:ext cx="21945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time_in_hospital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724912" y="4114800"/>
            <a:ext cx="1718042" cy="107899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16106" y="4096512"/>
            <a:ext cx="365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0.046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2920" y="4248302"/>
            <a:ext cx="21945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medications_per_day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724912" y="4266590"/>
            <a:ext cx="1605995" cy="107899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04059" y="4248302"/>
            <a:ext cx="365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0.043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02920" y="4400093"/>
            <a:ext cx="21945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number_diagnoses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724912" y="4418381"/>
            <a:ext cx="1307206" cy="107899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05270" y="4400093"/>
            <a:ext cx="365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0.035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02920" y="4551883"/>
            <a:ext cx="21945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A1C_tested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724912" y="4570171"/>
            <a:ext cx="1045765" cy="107899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843829" y="4551883"/>
            <a:ext cx="365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0.028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02920" y="4703674"/>
            <a:ext cx="21945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active_diabetes_meds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24912" y="4721962"/>
            <a:ext cx="896370" cy="107899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94434" y="4703674"/>
            <a:ext cx="365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052"/>
            <a:ext cx="9144000" cy="51435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 OF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Xtreme Gradient Boosting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"/>
            <a:ext cx="822960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94360"/>
            <a:ext cx="5303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658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XGBoost over native GBTClassifier?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uses second-order gradient information (Newton's method), L1/L2 regularisation on leaf weights, and more efficient histogram-based tree splitting. It implements the same Spark ML Estimator/Transformer API (SparkXGBClassifier) so it slots directly into CrossValidator and receives the same </a:t>
            </a:r>
            <a:r>
              <a:rPr lang="en-US" sz="1000" dirty="0" err="1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weightCol</a:t>
            </a: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no pipeline changes needed.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06440" y="594360"/>
            <a:ext cx="2971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658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Results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06440" y="960120"/>
            <a:ext cx="2971800" cy="310896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0176" y="941832"/>
            <a:ext cx="15179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47204" y="935736"/>
            <a:ext cx="12435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57672" y="1237488"/>
            <a:ext cx="3017520" cy="310896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0176" y="1225296"/>
            <a:ext cx="15179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47204" y="1219200"/>
            <a:ext cx="12435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0.6184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06440" y="1499616"/>
            <a:ext cx="2971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0176" y="1481328"/>
            <a:ext cx="15179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47204" y="1475232"/>
            <a:ext cx="12435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0.6289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06440" y="1755648"/>
            <a:ext cx="2971800" cy="249936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0176" y="1737360"/>
            <a:ext cx="15179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 best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47204" y="1731264"/>
            <a:ext cx="12435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0.6351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176272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24942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0.712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65760" y="27797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 set)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23160" y="2176272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423160" y="224942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63.4%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423160" y="27797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(readmitted class)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80560" y="2176272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480560" y="224942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~16%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480560" y="27797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(readmitted class)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37960" y="2176272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37960" y="224942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537960" y="27797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n_estimators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(CV-selected)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337560"/>
            <a:ext cx="8412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" y="34015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Ablation Study - Impact of medications_per_day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0" y="3401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ΔAUC = +0.061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88620" y="3721608"/>
            <a:ext cx="8386572" cy="310896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7" y="3691128"/>
            <a:ext cx="33924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794760" y="3739896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66360" y="3739896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014216"/>
            <a:ext cx="8409432" cy="310896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2357" y="4023360"/>
            <a:ext cx="34381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medications_per_day (full model)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794760" y="4050792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0.7118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66360" y="4050792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0.6343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4325112"/>
            <a:ext cx="8409432" cy="310896"/>
          </a:xfrm>
          <a:prstGeom prst="rect">
            <a:avLst/>
          </a:prstGeom>
          <a:solidFill>
            <a:srgbClr val="FEEEEE"/>
          </a:solidFill>
          <a:ln w="12700">
            <a:solidFill>
              <a:srgbClr val="F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7" y="4334256"/>
            <a:ext cx="34381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medications_per_day (ablated)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794760" y="4361688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0.6507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66360" y="4361688"/>
            <a:ext cx="13350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0.5437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2920" y="4645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engineered feature adds +6.1% AUC and +9% recall - a meaningful and measurable contribution.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384" y="0"/>
            <a:ext cx="9144000" cy="51435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F2-Score </a:t>
            </a:r>
            <a:r>
              <a:rPr lang="en-US" sz="20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Clinically Motivated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"/>
            <a:ext cx="822960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94360"/>
            <a:ext cx="5029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658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F1? Why F2?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on this dataset increases monotonically toward threshold=0.50 - so F1-optimisation trivially returns the default and tunes nothing. F2 (β=2) weights recall twice as heavily as precision, reflecting the asymmetric clinical cost: a missed high-risk patient causes serious harm; a false alarm causes one unnecessary phone call. F2 is not monotone with threshold and peaks below 0.50, enabling genuine tuning. A precision floor of 0.15 is also applied, below this, alert volume becomes clinically unusable.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32120" y="594360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658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Table (XGBoost)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32120" y="960120"/>
            <a:ext cx="3246120" cy="310896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05272" y="947928"/>
            <a:ext cx="5577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6604" y="987552"/>
            <a:ext cx="7406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68896" y="969264"/>
            <a:ext cx="6035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36611" y="978408"/>
            <a:ext cx="5577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32120" y="1225296"/>
            <a:ext cx="3246120" cy="310896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05272" y="1213104"/>
            <a:ext cx="5577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6604" y="1252728"/>
            <a:ext cx="7406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68896" y="1234440"/>
            <a:ext cx="6035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36611" y="1243584"/>
            <a:ext cx="5577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32120" y="1472184"/>
            <a:ext cx="3246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05272" y="1459992"/>
            <a:ext cx="5577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39078" y="1499616"/>
            <a:ext cx="7406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68896" y="1481328"/>
            <a:ext cx="6035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36611" y="1490472"/>
            <a:ext cx="5577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32120" y="1719072"/>
            <a:ext cx="3246120" cy="310896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05272" y="1706880"/>
            <a:ext cx="5577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39078" y="1728216"/>
            <a:ext cx="7406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68896" y="1728216"/>
            <a:ext cx="6035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36611" y="1737360"/>
            <a:ext cx="5577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32120" y="1965960"/>
            <a:ext cx="3246120" cy="310896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05272" y="1953768"/>
            <a:ext cx="5577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39078" y="1975104"/>
            <a:ext cx="7406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68896" y="1975104"/>
            <a:ext cx="6035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36611" y="1984248"/>
            <a:ext cx="5577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2212848"/>
            <a:ext cx="8503920" cy="310896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121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Threshold Tuning (XGBoost)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" y="2487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600200" y="2496312"/>
            <a:ext cx="1828800" cy="256032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27632" y="25237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0.5: 63.4%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11880" y="2496312"/>
            <a:ext cx="274320" cy="256032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1188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977640" y="2496312"/>
            <a:ext cx="15544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05072" y="25237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0.45: 77.1%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65760" y="32369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600200" y="3246120"/>
            <a:ext cx="1828800" cy="256032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27632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0.5: 15.8%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11880" y="3246120"/>
            <a:ext cx="274320" cy="256032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1188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977640" y="3246120"/>
            <a:ext cx="155448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05072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0.45: 13.6%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65760" y="39867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Score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600200" y="3995928"/>
            <a:ext cx="1828800" cy="256032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27632" y="40233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0.5: 0.392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611880" y="3995928"/>
            <a:ext cx="274320" cy="256032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11880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977640" y="3995928"/>
            <a:ext cx="1554480" cy="25603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05072" y="40233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0.45: 0.413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22976" y="2365248"/>
            <a:ext cx="3246120" cy="2526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5678424" y="2423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Interpretation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669280" y="2487168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threshold=0.45: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77.1% of readmitted patients flagged at discharge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13.6% precision — ~86% of alerts are false alarms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clinically acceptable as a triage tool, not a replacement for clinical judgment. A care team reviews flagged patients, catching 7-8 in every 10 high-risk cases before they deteriorate at home.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benchmark (Strack et al., 2014):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≈ 0.63–0.68 on this exact dataset.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COMPARISON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Performance: All 3 Algorithms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"/>
            <a:ext cx="822960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00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Metrics: Computed Once Per Algorithm After CV Tuning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06384" cy="310896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50976"/>
            <a:ext cx="21579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950976"/>
            <a:ext cx="7406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950976"/>
            <a:ext cx="8321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7800" y="950976"/>
            <a:ext cx="8321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950976"/>
            <a:ext cx="8778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225296"/>
            <a:ext cx="8412480" cy="310896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261872"/>
            <a:ext cx="22037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(maxDepth=5)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11880" y="1261872"/>
            <a:ext cx="7406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0.6735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1261872"/>
            <a:ext cx="8321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0.6170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1261872"/>
            <a:ext cx="8321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0.6161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1261872"/>
            <a:ext cx="8778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0.1285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1627632"/>
            <a:ext cx="8412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1664208"/>
            <a:ext cx="22037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(numTrees=200)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11880" y="1664208"/>
            <a:ext cx="7406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0.7481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0" y="1664208"/>
            <a:ext cx="8321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1664208"/>
            <a:ext cx="8321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0.5763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1664208"/>
            <a:ext cx="8778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0.1573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2029968"/>
            <a:ext cx="8412480" cy="310896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066544"/>
            <a:ext cx="22037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(n_estimators=50)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11880" y="2066544"/>
            <a:ext cx="7406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0.7175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89120" y="2066544"/>
            <a:ext cx="8321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0.7118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2066544"/>
            <a:ext cx="8321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0.6343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26480" y="2066544"/>
            <a:ext cx="8778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0.1580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2920" y="28163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overall: XGBoost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3127248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65760" y="3127248"/>
            <a:ext cx="2743200" cy="29260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31729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Winner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57200" y="349300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achieves AUC = 0.712 — above published benchmarks of 0.63–0.68 for this exact dataset.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27832" y="3127248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227832" y="3127248"/>
            <a:ext cx="27432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19272" y="31729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Winner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3319272" y="349300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at threshold 0.45 catches 77.1% of readmitted patients — the highest recall across all configurations.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089904" y="3127248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089904" y="3127248"/>
            <a:ext cx="2743200" cy="2926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81344" y="31729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Impact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181344" y="349300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XGBoost: recall ≈ 0.04. Weighted: recall = 0.63. Class weighting gave a 15× improvement in minority class detection.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9718"/>
            <a:ext cx="9144000" cy="51435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ANALYSIS — QUESTION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Age-Stratified Performance &amp; Subgroup-Specific Modelling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"/>
            <a:ext cx="822960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94360"/>
            <a:ext cx="5029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658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Global Model — Performance by Age Group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950976"/>
            <a:ext cx="5029200" cy="310896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11936"/>
            <a:ext cx="9692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1005840"/>
            <a:ext cx="7406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1005840"/>
            <a:ext cx="7863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Readmit%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1005840"/>
            <a:ext cx="8778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1005840"/>
            <a:ext cx="7406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1005840"/>
            <a:ext cx="6949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261872"/>
            <a:ext cx="5074920" cy="310896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008" y="1289304"/>
            <a:ext cx="9692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1298448"/>
            <a:ext cx="7406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1298448"/>
            <a:ext cx="7863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1298448"/>
            <a:ext cx="8778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1298448"/>
            <a:ext cx="7406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1298448"/>
            <a:ext cx="6949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0.429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1591056"/>
            <a:ext cx="5029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5008" y="1636776"/>
            <a:ext cx="9692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25880" y="1627632"/>
            <a:ext cx="7406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4,306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03120" y="1627632"/>
            <a:ext cx="7863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26080" y="1627632"/>
            <a:ext cx="8778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1627632"/>
            <a:ext cx="7406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17720" y="1627632"/>
            <a:ext cx="6949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8620" y="1926336"/>
            <a:ext cx="5006340" cy="310896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1933956"/>
            <a:ext cx="9692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25880" y="1956816"/>
            <a:ext cx="7406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9,242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03120" y="1956816"/>
            <a:ext cx="7863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26080" y="1956816"/>
            <a:ext cx="8778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1956816"/>
            <a:ext cx="74066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17720" y="1956816"/>
            <a:ext cx="6949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23042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by age (global model)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26151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188720" y="2633472"/>
            <a:ext cx="2820375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54815" y="2615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70.1%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" y="29077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188720" y="2926080"/>
            <a:ext cx="1754185" cy="1828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88625" y="29077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43.6%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32004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188720" y="3218688"/>
            <a:ext cx="1726021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60461" y="32004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71744" y="573024"/>
            <a:ext cx="3200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50800" dist="25400" dir="16200000" algn="bl" rotWithShape="0">
              <a:srgbClr val="B0C4D8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715000" y="658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Model: Patients &lt;30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715000" y="9692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XGBoost model exclusively on patients under 30 vs. applying the global model to the same subgroup: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708904" y="1627632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only 1,446 training patients in the &lt;30 subgroup, insufficient for XGBoost to learn robust patterns independently. The global model outperforms the subgroup-specific model here, showing that transferring patterns from the larger training set is more valuable than age-specific training when data is scarce. This is a genuine finding, not a failure.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&gt;60 group has the highest readmission rate (10.2%) AND the highest recall (70.1%), the model correctly concentrates attention where risk is greatest. Middle-aged patients are hardest to classify because their clinical profiles overlap more with non-readmitted patients.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"/>
            <a:ext cx="822960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94360"/>
            <a:ext cx="109728" cy="6858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309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Prediction Feasibility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8869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achieves AUC = 0.712, above the published benchmark range of 0.63–0.68 for this dataset. 30-day readmission is predictable to a clinically useful degree from discharge-time features.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109728" cy="6858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5179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Feature Importance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177393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discharge_disposition_id, number_inpatient, has_prior_inpatient, and prior_hospital_burden are the strongest predictors. 4 of the top 10 importances are engineered features — confirming clinical relevance of the feature design.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368296"/>
            <a:ext cx="109728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0487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Age Subgroups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266090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varies significantly: &gt;60 patients have the highest readmission rate (10.2%) and highest recall (70.1%). The &lt;30 subgroup-specific model underperforms the global model due to insufficient subgroup training data (1,446 patients).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255264"/>
            <a:ext cx="109728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2918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Feature Engineering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354787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medications_per_day drops AUC from 0.712 to 0.651 (ΔAUC = −0.061) and recall from 63.4% to 54.4%. The engineered feature provides a clear, measurable improvement over raw features alone.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142232"/>
            <a:ext cx="109728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17880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Class Weighting &amp; Threshold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44348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XGBoost achieves recall ≈ 4% — essentially useless. Class weighting raises recall to 63.4%. F2-optimised threshold at 0.45 further improves recall to 77.1%, at a precision cost of ~86% false alarms. This is consistent with published results and is the correct clinical trade-off for a triage support tool.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2473</Words>
  <Application>Microsoft Office PowerPoint</Application>
  <PresentationFormat>On-screen Show (16:9)</PresentationFormat>
  <Paragraphs>489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kulsoomz99@gmail.com</cp:lastModifiedBy>
  <cp:revision>3</cp:revision>
  <dcterms:created xsi:type="dcterms:W3CDTF">2026-07-22T20:06:30Z</dcterms:created>
  <dcterms:modified xsi:type="dcterms:W3CDTF">2026-07-22T21:54:49Z</dcterms:modified>
</cp:coreProperties>
</file>